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6858000" cy="9144000"/>
  <p:embeddedFontLst>
    <p:embeddedFont>
      <p:font typeface="Montserrat"/>
      <p:regular r:id="rId27"/>
      <p:bold r:id="rId28"/>
      <p:italic r:id="rId29"/>
      <p:boldItalic r:id="rId30"/>
    </p:embeddedFont>
    <p:embeddedFont>
      <p:font typeface="Lato"/>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Montserrat-bold.fntdata"/><Relationship Id="rId27" Type="http://schemas.openxmlformats.org/officeDocument/2006/relationships/font" Target="fonts/Montserrat-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ontserrat-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ato-regular.fntdata"/><Relationship Id="rId30" Type="http://schemas.openxmlformats.org/officeDocument/2006/relationships/font" Target="fonts/Montserrat-boldItalic.fntdata"/><Relationship Id="rId11" Type="http://schemas.openxmlformats.org/officeDocument/2006/relationships/slide" Target="slides/slide6.xml"/><Relationship Id="rId33" Type="http://schemas.openxmlformats.org/officeDocument/2006/relationships/font" Target="fonts/Lato-italic.fntdata"/><Relationship Id="rId10" Type="http://schemas.openxmlformats.org/officeDocument/2006/relationships/slide" Target="slides/slide5.xml"/><Relationship Id="rId32" Type="http://schemas.openxmlformats.org/officeDocument/2006/relationships/font" Target="fonts/Lato-bold.fntdata"/><Relationship Id="rId13" Type="http://schemas.openxmlformats.org/officeDocument/2006/relationships/slide" Target="slides/slide8.xml"/><Relationship Id="rId12" Type="http://schemas.openxmlformats.org/officeDocument/2006/relationships/slide" Target="slides/slide7.xml"/><Relationship Id="rId34" Type="http://schemas.openxmlformats.org/officeDocument/2006/relationships/font" Target="fonts/Lato-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Tanishq</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d358f3e25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d358f3e25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Tanishq</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d358f3e25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d358f3e25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Rene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d4399a494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d4399a494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Rene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d4399a494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d4399a494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Rene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d47510b2f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d47510b2f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d47510b2f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d47510b2f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d47510b2fe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d47510b2fe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d358f3e254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d358f3e254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Twisha </a:t>
            </a:r>
            <a:br>
              <a:rPr lang="en"/>
            </a:br>
            <a:br>
              <a:rPr lang="en"/>
            </a:br>
            <a:r>
              <a:rPr lang="en"/>
              <a:t>On Slide 10, we outline the requirements that define the scope of our SMS Messenger. Our Functional Requirements bridge the gap between basic messaging and advanced automation. While FR1 through FR3 handle standard message flow, FR6 specifically introduces our unique 'Auto-Reply' and 'Scheduled' features, which we believe differentiate us from default system apps.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Turning to Non-Functional Requirements, we prioritized security and usability. For instance, NFR2 ensures that all local message history is encrypted and requires biometric or passcode authentication. Furthermore, we've designed the UI (under NFR1) so that a user can go from opening the app to sending a message in three steps or fewer, ensuring zero training is required for basic tasks.</a:t>
            </a:r>
            <a:endParaRPr/>
          </a:p>
          <a:p>
            <a:pPr indent="0" lvl="0" marL="0" rtl="0" algn="l">
              <a:spcBef>
                <a:spcPts val="0"/>
              </a:spcBef>
              <a:spcAft>
                <a:spcPts val="0"/>
              </a:spcAft>
              <a:buClr>
                <a:schemeClr val="dk1"/>
              </a:buClr>
              <a:buSzPts val="1100"/>
              <a:buFont typeface="Arial"/>
              <a:buNone/>
            </a:pPr>
            <a:r>
              <a:rPr lang="en"/>
              <a:t>------</a:t>
            </a:r>
            <a:endParaRPr/>
          </a:p>
          <a:p>
            <a:pPr indent="0" lvl="0" marL="0" rtl="0" algn="l">
              <a:spcBef>
                <a:spcPts val="0"/>
              </a:spcBef>
              <a:spcAft>
                <a:spcPts val="0"/>
              </a:spcAft>
              <a:buClr>
                <a:schemeClr val="dk1"/>
              </a:buClr>
              <a:buSzPts val="1100"/>
              <a:buFont typeface="Arial"/>
              <a:buNone/>
            </a:pPr>
            <a:r>
              <a:rPr lang="en"/>
              <a:t>"On Slide 19, we are demonstrating the Test Plan for our Message Search module. As part of our commitment to high software quality, we utilized JUnit 5 for automated unit testing.</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In the 'True' test case shown here, we input a query for a keyword known to exist in our mock database—'Project'—and verified that the system correctly returned the intended message. In the 'False' test case, we queried for a term that does not exist—'Pizza'—to verify that the system handles empty results gracefully without crashing. This automated approach allows us to verify that our search logic is case-insensitive and efficient before it is integrated into the final user interface</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d358f3e254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d358f3e254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Alec</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d358f3e254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d358f3e254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Quang</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dd15386d82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dd15386d82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Quang</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dd15386d82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dd15386d82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Sharan</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793c19c27f9eb0da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793c19c27f9eb0da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d358f3e254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d358f3e254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Alec</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d358f3e254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d358f3e254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Tanishq</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d358f3e25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d358f3e25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Sharan</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d358f3e254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d358f3e254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Quang</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d358f3e254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d358f3e254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Twisha</a:t>
            </a:r>
            <a:br>
              <a:rPr lang="en"/>
            </a:br>
            <a:br>
              <a:rPr lang="en"/>
            </a:br>
            <a:r>
              <a:rPr lang="en">
                <a:solidFill>
                  <a:schemeClr val="dk1"/>
                </a:solidFill>
              </a:rPr>
              <a:t>On Slide 19, we are demonstrating the </a:t>
            </a:r>
            <a:r>
              <a:rPr b="1" lang="en">
                <a:solidFill>
                  <a:schemeClr val="dk1"/>
                </a:solidFill>
              </a:rPr>
              <a:t>Test Plan</a:t>
            </a:r>
            <a:r>
              <a:rPr lang="en">
                <a:solidFill>
                  <a:schemeClr val="dk1"/>
                </a:solidFill>
              </a:rPr>
              <a:t> for our Message Search module. As part of our commitment to high software quality, we utilized </a:t>
            </a:r>
            <a:r>
              <a:rPr b="1" lang="en">
                <a:solidFill>
                  <a:schemeClr val="dk1"/>
                </a:solidFill>
              </a:rPr>
              <a:t>JUnit 5</a:t>
            </a:r>
            <a:r>
              <a:rPr lang="en">
                <a:solidFill>
                  <a:schemeClr val="dk1"/>
                </a:solidFill>
              </a:rPr>
              <a:t> for automated unit testing.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In the 'True' test case shown here, we input a query for a keyword known to exist in our mock database—'Project'—and verified that the system correctly returned the intended message. In the 'False' test case, we queried for a term that does not exist—'Pizza'—to verify that the system handles empty results gracefully without crashing. This automated approach allows us to verify that our search logic is case-insensitive and efficient before it is integrated into the final user interface</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d358f3e254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d358f3e254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Tanishq</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d358f3e254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d358f3e254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Alec</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8.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6.pn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SMS Messenger System</a:t>
            </a:r>
            <a:endParaRPr/>
          </a:p>
        </p:txBody>
      </p:sp>
      <p:sp>
        <p:nvSpPr>
          <p:cNvPr id="135" name="Google Shape;135;p13"/>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Team 3: Alec, Sharan, Twisha, Tanishq, Quang, Rene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Objective</a:t>
            </a:r>
            <a:endParaRPr/>
          </a:p>
        </p:txBody>
      </p:sp>
      <p:sp>
        <p:nvSpPr>
          <p:cNvPr id="141" name="Google Shape;141;p1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Our objective is to build a comprehensive SMS </a:t>
            </a:r>
            <a:r>
              <a:rPr lang="en"/>
              <a:t>Messenger</a:t>
            </a:r>
            <a:r>
              <a:rPr lang="en"/>
              <a:t> Software </a:t>
            </a:r>
            <a:r>
              <a:rPr lang="en"/>
              <a:t>designed</a:t>
            </a:r>
            <a:r>
              <a:rPr lang="en"/>
              <a:t> for consumers to manage personal communication effectively.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Cost Estimation - Hardware</a:t>
            </a:r>
            <a:endParaRPr/>
          </a:p>
        </p:txBody>
      </p:sp>
      <p:sp>
        <p:nvSpPr>
          <p:cNvPr id="147" name="Google Shape;147;p15"/>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List of Hardware</a:t>
            </a:r>
            <a:endParaRPr/>
          </a:p>
          <a:p>
            <a:pPr indent="0" lvl="0" marL="0" rtl="0" algn="l">
              <a:spcBef>
                <a:spcPts val="1200"/>
              </a:spcBef>
              <a:spcAft>
                <a:spcPts val="0"/>
              </a:spcAft>
              <a:buNone/>
            </a:pPr>
            <a:r>
              <a:rPr lang="en"/>
              <a:t>	-SMS Gateway	-</a:t>
            </a:r>
            <a:r>
              <a:rPr lang="en"/>
              <a:t>4G Modem		-SIM cards		-External Antenna</a:t>
            </a:r>
            <a:endParaRPr/>
          </a:p>
          <a:p>
            <a:pPr indent="0" lvl="0" marL="0" rtl="0" algn="l">
              <a:spcBef>
                <a:spcPts val="1200"/>
              </a:spcBef>
              <a:spcAft>
                <a:spcPts val="0"/>
              </a:spcAft>
              <a:buNone/>
            </a:pPr>
            <a:r>
              <a:rPr lang="en"/>
              <a:t>	-Server/Host Machine (Linux OS)	-Network Equipment</a:t>
            </a:r>
            <a:endParaRPr/>
          </a:p>
          <a:p>
            <a:pPr indent="0" lvl="0" marL="0" rtl="0" algn="l">
              <a:spcBef>
                <a:spcPts val="1200"/>
              </a:spcBef>
              <a:spcAft>
                <a:spcPts val="1200"/>
              </a:spcAft>
              <a:buNone/>
            </a:pPr>
            <a:r>
              <a:rPr lang="en"/>
              <a:t>Cost Range - $3,000 - $5,000</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Cost Estimate - Software Development</a:t>
            </a:r>
            <a:endParaRPr/>
          </a:p>
        </p:txBody>
      </p:sp>
      <p:sp>
        <p:nvSpPr>
          <p:cNvPr id="153" name="Google Shape;153;p16"/>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Develop for medium/large application and </a:t>
            </a:r>
            <a:r>
              <a:rPr lang="en"/>
              <a:t>Client-Server</a:t>
            </a:r>
            <a:endParaRPr/>
          </a:p>
          <a:p>
            <a:pPr indent="0" lvl="0" marL="0" rtl="0" algn="l">
              <a:spcBef>
                <a:spcPts val="1200"/>
              </a:spcBef>
              <a:spcAft>
                <a:spcPts val="0"/>
              </a:spcAft>
              <a:buNone/>
            </a:pPr>
            <a:r>
              <a:rPr lang="en"/>
              <a:t>Cost Range - $50,000 - $75,000</a:t>
            </a:r>
            <a:endParaRPr/>
          </a:p>
          <a:p>
            <a:pPr indent="0" lvl="0" marL="0" rtl="0" algn="l">
              <a:spcBef>
                <a:spcPts val="1200"/>
              </a:spcBef>
              <a:spcAft>
                <a:spcPts val="0"/>
              </a:spcAft>
              <a:buNone/>
            </a:pPr>
            <a:r>
              <a:rPr lang="en"/>
              <a:t>Yearly Maintenance Cost - $15,000 - $30,000</a:t>
            </a:r>
            <a:endParaRPr/>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Cost Estimate - Personal</a:t>
            </a:r>
            <a:endParaRPr/>
          </a:p>
        </p:txBody>
      </p:sp>
      <p:sp>
        <p:nvSpPr>
          <p:cNvPr id="159" name="Google Shape;159;p17"/>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Full Development Team - 8 personals</a:t>
            </a:r>
            <a:endParaRPr/>
          </a:p>
          <a:p>
            <a:pPr indent="0" lvl="0" marL="0" rtl="0" algn="l">
              <a:spcBef>
                <a:spcPts val="1200"/>
              </a:spcBef>
              <a:spcAft>
                <a:spcPts val="0"/>
              </a:spcAft>
              <a:buNone/>
            </a:pPr>
            <a:r>
              <a:rPr lang="en"/>
              <a:t>$75 - $150 per hour</a:t>
            </a:r>
            <a:endParaRPr/>
          </a:p>
          <a:p>
            <a:pPr indent="0" lvl="0" marL="0" rtl="0" algn="l">
              <a:spcBef>
                <a:spcPts val="1200"/>
              </a:spcBef>
              <a:spcAft>
                <a:spcPts val="0"/>
              </a:spcAft>
              <a:buNone/>
            </a:pPr>
            <a:r>
              <a:rPr lang="en"/>
              <a:t>$144,000 - $288,000 salary</a:t>
            </a:r>
            <a:endParaRPr/>
          </a:p>
          <a:p>
            <a:pPr indent="0" lvl="0" marL="0" rtl="0" algn="l">
              <a:spcBef>
                <a:spcPts val="1200"/>
              </a:spcBef>
              <a:spcAft>
                <a:spcPts val="1200"/>
              </a:spcAft>
              <a:buNone/>
            </a:pPr>
            <a:r>
              <a:rPr lang="en"/>
              <a:t>Cost Range - $1,152,000 - $2,304,000</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Functional Point</a:t>
            </a:r>
            <a:endParaRPr/>
          </a:p>
        </p:txBody>
      </p:sp>
      <p:sp>
        <p:nvSpPr>
          <p:cNvPr id="165" name="Google Shape;165;p18"/>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External Input (EI)						FP: 11</a:t>
            </a:r>
            <a:endParaRPr/>
          </a:p>
          <a:p>
            <a:pPr indent="0" lvl="0" marL="0" rtl="0" algn="l">
              <a:spcBef>
                <a:spcPts val="1200"/>
              </a:spcBef>
              <a:spcAft>
                <a:spcPts val="0"/>
              </a:spcAft>
              <a:buNone/>
            </a:pPr>
            <a:r>
              <a:rPr lang="en"/>
              <a:t>	Compose and Send SMS</a:t>
            </a:r>
            <a:endParaRPr/>
          </a:p>
          <a:p>
            <a:pPr indent="0" lvl="0" marL="0" rtl="0" algn="l">
              <a:spcBef>
                <a:spcPts val="1200"/>
              </a:spcBef>
              <a:spcAft>
                <a:spcPts val="0"/>
              </a:spcAft>
              <a:buNone/>
            </a:pPr>
            <a:r>
              <a:rPr lang="en"/>
              <a:t>	Inbound SMS </a:t>
            </a:r>
            <a:r>
              <a:rPr lang="en"/>
              <a:t>receive</a:t>
            </a:r>
            <a:endParaRPr/>
          </a:p>
          <a:p>
            <a:pPr indent="0" lvl="0" marL="0" rtl="0" algn="l">
              <a:spcBef>
                <a:spcPts val="1200"/>
              </a:spcBef>
              <a:spcAft>
                <a:spcPts val="0"/>
              </a:spcAft>
              <a:buNone/>
            </a:pPr>
            <a:r>
              <a:rPr lang="en"/>
              <a:t>	User Login</a:t>
            </a:r>
            <a:endParaRPr/>
          </a:p>
          <a:p>
            <a:pPr indent="0" lvl="0" marL="0" rtl="0" algn="l">
              <a:spcBef>
                <a:spcPts val="1200"/>
              </a:spcBef>
              <a:spcAft>
                <a:spcPts val="0"/>
              </a:spcAft>
              <a:buNone/>
            </a:pPr>
            <a:r>
              <a:rPr lang="en"/>
              <a:t>External Output (EO)					FP: 5</a:t>
            </a:r>
            <a:endParaRPr/>
          </a:p>
          <a:p>
            <a:pPr indent="0" lvl="0" marL="0" rtl="0" algn="l">
              <a:spcBef>
                <a:spcPts val="1200"/>
              </a:spcBef>
              <a:spcAft>
                <a:spcPts val="1200"/>
              </a:spcAft>
              <a:buNone/>
            </a:pPr>
            <a:r>
              <a:rPr lang="en"/>
              <a:t>	Delivery Status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Functional Point</a:t>
            </a:r>
            <a:endParaRPr/>
          </a:p>
        </p:txBody>
      </p:sp>
      <p:sp>
        <p:nvSpPr>
          <p:cNvPr id="171" name="Google Shape;171;p19"/>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External Inquiries (EQ)				FP: 20</a:t>
            </a:r>
            <a:endParaRPr/>
          </a:p>
          <a:p>
            <a:pPr indent="0" lvl="0" marL="0" rtl="0" algn="l">
              <a:spcBef>
                <a:spcPts val="1200"/>
              </a:spcBef>
              <a:spcAft>
                <a:spcPts val="0"/>
              </a:spcAft>
              <a:buNone/>
            </a:pPr>
            <a:r>
              <a:rPr lang="en"/>
              <a:t>	Message View	</a:t>
            </a:r>
            <a:r>
              <a:rPr lang="en"/>
              <a:t>Message Delete</a:t>
            </a:r>
            <a:endParaRPr/>
          </a:p>
          <a:p>
            <a:pPr indent="0" lvl="0" marL="0" rtl="0" algn="l">
              <a:spcBef>
                <a:spcPts val="1200"/>
              </a:spcBef>
              <a:spcAft>
                <a:spcPts val="0"/>
              </a:spcAft>
              <a:buNone/>
            </a:pPr>
            <a:r>
              <a:rPr lang="en"/>
              <a:t>	Message Sent	</a:t>
            </a:r>
            <a:r>
              <a:rPr lang="en"/>
              <a:t>Message Edit</a:t>
            </a:r>
            <a:endParaRPr/>
          </a:p>
          <a:p>
            <a:pPr indent="457200" lvl="0" marL="0" rtl="0" algn="l">
              <a:spcBef>
                <a:spcPts val="1200"/>
              </a:spcBef>
              <a:spcAft>
                <a:spcPts val="0"/>
              </a:spcAft>
              <a:buNone/>
            </a:pPr>
            <a:r>
              <a:rPr lang="en"/>
              <a:t>Message Search</a:t>
            </a:r>
            <a:endParaRPr/>
          </a:p>
          <a:p>
            <a:pPr indent="0" lvl="0" marL="0" rtl="0" algn="l">
              <a:spcBef>
                <a:spcPts val="1200"/>
              </a:spcBef>
              <a:spcAft>
                <a:spcPts val="0"/>
              </a:spcAft>
              <a:buNone/>
            </a:pPr>
            <a:r>
              <a:rPr lang="en"/>
              <a:t>Internal FIles (ILF)					FP: 8</a:t>
            </a:r>
            <a:endParaRPr/>
          </a:p>
          <a:p>
            <a:pPr indent="0" lvl="0" marL="0" rtl="0" algn="l">
              <a:spcBef>
                <a:spcPts val="1200"/>
              </a:spcBef>
              <a:spcAft>
                <a:spcPts val="0"/>
              </a:spcAft>
              <a:buNone/>
            </a:pPr>
            <a:r>
              <a:rPr lang="en"/>
              <a:t>	Message Data</a:t>
            </a:r>
            <a:endParaRPr/>
          </a:p>
          <a:p>
            <a:pPr indent="0" lvl="0" marL="0" rtl="0" algn="l">
              <a:spcBef>
                <a:spcPts val="1200"/>
              </a:spcBef>
              <a:spcAft>
                <a:spcPts val="1200"/>
              </a:spcAft>
              <a:buNone/>
            </a:pPr>
            <a:r>
              <a:rPr lang="en"/>
              <a:t>	Message Schedule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Functional Point</a:t>
            </a:r>
            <a:endParaRPr/>
          </a:p>
        </p:txBody>
      </p:sp>
      <p:sp>
        <p:nvSpPr>
          <p:cNvPr id="177" name="Google Shape;177;p20"/>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External Interfaces (EIF)				FP: 7</a:t>
            </a:r>
            <a:endParaRPr/>
          </a:p>
          <a:p>
            <a:pPr indent="0" lvl="0" marL="0" rtl="0" algn="l">
              <a:spcBef>
                <a:spcPts val="1200"/>
              </a:spcBef>
              <a:spcAft>
                <a:spcPts val="0"/>
              </a:spcAft>
              <a:buNone/>
            </a:pPr>
            <a:r>
              <a:rPr lang="en"/>
              <a:t>	SMS Gateway</a:t>
            </a:r>
            <a:endParaRPr/>
          </a:p>
          <a:p>
            <a:pPr indent="0" lvl="0" marL="0" rtl="0" algn="l">
              <a:spcBef>
                <a:spcPts val="1200"/>
              </a:spcBef>
              <a:spcAft>
                <a:spcPts val="0"/>
              </a:spcAft>
              <a:buNone/>
            </a:pPr>
            <a:r>
              <a:t/>
            </a:r>
            <a:endParaRPr/>
          </a:p>
          <a:p>
            <a:pPr indent="457200" lvl="0" marL="2743200" rtl="0" algn="l">
              <a:spcBef>
                <a:spcPts val="1200"/>
              </a:spcBef>
              <a:spcAft>
                <a:spcPts val="1200"/>
              </a:spcAft>
              <a:buNone/>
            </a:pPr>
            <a:r>
              <a:rPr lang="en"/>
              <a:t>Total FP: 51</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1"/>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Functional and Non-Functional Requirements</a:t>
            </a:r>
            <a:endParaRPr/>
          </a:p>
        </p:txBody>
      </p:sp>
      <p:sp>
        <p:nvSpPr>
          <p:cNvPr id="183" name="Google Shape;183;p21"/>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fontScale="62500" lnSpcReduction="20000"/>
          </a:bodyPr>
          <a:lstStyle/>
          <a:p>
            <a:pPr indent="0" lvl="0" marL="0" rtl="0" algn="l">
              <a:spcBef>
                <a:spcPts val="0"/>
              </a:spcBef>
              <a:spcAft>
                <a:spcPts val="0"/>
              </a:spcAft>
              <a:buNone/>
            </a:pPr>
            <a:r>
              <a:rPr lang="en"/>
              <a:t>Functional:</a:t>
            </a:r>
            <a:endParaRPr/>
          </a:p>
          <a:p>
            <a:pPr indent="0" lvl="0" marL="0" rtl="0" algn="l">
              <a:spcBef>
                <a:spcPts val="1200"/>
              </a:spcBef>
              <a:spcAft>
                <a:spcPts val="0"/>
              </a:spcAft>
              <a:buNone/>
            </a:pPr>
            <a:r>
              <a:rPr lang="en"/>
              <a:t>FR1: The system shall allow a user to compose and send SMS messages to one or more contacts. </a:t>
            </a:r>
            <a:endParaRPr/>
          </a:p>
          <a:p>
            <a:pPr indent="0" lvl="0" marL="0" rtl="0" algn="l">
              <a:spcBef>
                <a:spcPts val="1200"/>
              </a:spcBef>
              <a:spcAft>
                <a:spcPts val="0"/>
              </a:spcAft>
              <a:buNone/>
            </a:pPr>
            <a:r>
              <a:rPr lang="en"/>
              <a:t>FR2: The system shall allow a user to receive, view, reply to, and forward incoming SMS messages.</a:t>
            </a:r>
            <a:endParaRPr/>
          </a:p>
          <a:p>
            <a:pPr indent="0" lvl="0" marL="0" rtl="0" algn="l">
              <a:spcBef>
                <a:spcPts val="1200"/>
              </a:spcBef>
              <a:spcAft>
                <a:spcPts val="0"/>
              </a:spcAft>
              <a:buNone/>
            </a:pPr>
            <a:r>
              <a:rPr lang="en"/>
              <a:t>FR3: The system shall display all messages exchanged with a specific contact in a chronological Conversation View.</a:t>
            </a:r>
            <a:endParaRPr/>
          </a:p>
          <a:p>
            <a:pPr indent="0" lvl="0" marL="0" rtl="0" algn="l">
              <a:spcBef>
                <a:spcPts val="1200"/>
              </a:spcBef>
              <a:spcAft>
                <a:spcPts val="0"/>
              </a:spcAft>
              <a:buNone/>
            </a:pPr>
            <a:r>
              <a:rPr lang="en"/>
              <a:t>FR4: The system shall allow users to save, edit, and delete unsent message drafts.</a:t>
            </a:r>
            <a:endParaRPr/>
          </a:p>
          <a:p>
            <a:pPr indent="0" lvl="0" marL="0" rtl="0" algn="l">
              <a:spcBef>
                <a:spcPts val="1200"/>
              </a:spcBef>
              <a:spcAft>
                <a:spcPts val="0"/>
              </a:spcAft>
              <a:buNone/>
            </a:pPr>
            <a:r>
              <a:rPr lang="en"/>
              <a:t>FR5: The system shall allow users to search for specific messages using text queries and categorize them by contact name and phone number.</a:t>
            </a:r>
            <a:endParaRPr/>
          </a:p>
          <a:p>
            <a:pPr indent="0" lvl="0" marL="0" rtl="0" algn="l">
              <a:spcBef>
                <a:spcPts val="1200"/>
              </a:spcBef>
              <a:spcAft>
                <a:spcPts val="0"/>
              </a:spcAft>
              <a:buNone/>
            </a:pPr>
            <a:r>
              <a:rPr lang="en"/>
              <a:t>FR6: The system shall allow users to schedule messages to be sent at a future date and set up automatic replies based on user-defined criteria.</a:t>
            </a:r>
            <a:endParaRPr/>
          </a:p>
          <a:p>
            <a:pPr indent="0" lvl="0" marL="0" rtl="0" algn="l">
              <a:spcBef>
                <a:spcPts val="1200"/>
              </a:spcBef>
              <a:spcAft>
                <a:spcPts val="1200"/>
              </a:spcAft>
              <a:buNone/>
            </a:pPr>
            <a:r>
              <a:t/>
            </a:r>
            <a:endParaRPr/>
          </a:p>
        </p:txBody>
      </p:sp>
      <p:sp>
        <p:nvSpPr>
          <p:cNvPr id="184" name="Google Shape;184;p21"/>
          <p:cNvSpPr txBox="1"/>
          <p:nvPr>
            <p:ph idx="2" type="body"/>
          </p:nvPr>
        </p:nvSpPr>
        <p:spPr>
          <a:xfrm>
            <a:off x="4933221" y="1567550"/>
            <a:ext cx="3403200" cy="29112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605"/>
              <a:buNone/>
            </a:pPr>
            <a:r>
              <a:rPr lang="en" sz="815"/>
              <a:t>Non-Functional:</a:t>
            </a:r>
            <a:endParaRPr sz="815"/>
          </a:p>
          <a:p>
            <a:pPr indent="0" lvl="0" marL="0" rtl="0" algn="l">
              <a:lnSpc>
                <a:spcPct val="95000"/>
              </a:lnSpc>
              <a:spcBef>
                <a:spcPts val="1200"/>
              </a:spcBef>
              <a:spcAft>
                <a:spcPts val="0"/>
              </a:spcAft>
              <a:buSzPts val="605"/>
              <a:buNone/>
            </a:pPr>
            <a:r>
              <a:rPr lang="en" sz="815"/>
              <a:t>NFR1:  Usability requirement: The system's user interface shall provide zoom and scroll capabilities, allowing a new user to compose and send a message in fewer than 3 steps without prior training.</a:t>
            </a:r>
            <a:endParaRPr sz="815"/>
          </a:p>
          <a:p>
            <a:pPr indent="0" lvl="0" marL="0" rtl="0" algn="l">
              <a:lnSpc>
                <a:spcPct val="95000"/>
              </a:lnSpc>
              <a:spcBef>
                <a:spcPts val="1200"/>
              </a:spcBef>
              <a:spcAft>
                <a:spcPts val="0"/>
              </a:spcAft>
              <a:buSzPts val="605"/>
              <a:buNone/>
            </a:pPr>
            <a:r>
              <a:rPr lang="en" sz="815"/>
              <a:t>NFR2: Security requirement: The system shall require user authentication upon opening the app and encrypt all locally stored messages and contact information to prevent unauthorized access.</a:t>
            </a:r>
            <a:endParaRPr sz="815"/>
          </a:p>
          <a:p>
            <a:pPr indent="0" lvl="0" marL="0" rtl="0" algn="l">
              <a:lnSpc>
                <a:spcPct val="95000"/>
              </a:lnSpc>
              <a:spcBef>
                <a:spcPts val="1200"/>
              </a:spcBef>
              <a:spcAft>
                <a:spcPts val="0"/>
              </a:spcAft>
              <a:buSzPts val="605"/>
              <a:buNone/>
            </a:pPr>
            <a:r>
              <a:rPr lang="en" sz="815"/>
              <a:t>NFR3: Environmental requirement: The system shall be compatible with the standard mobile operating environments targeted by the team and function without interfering with other native device applications.</a:t>
            </a:r>
            <a:endParaRPr sz="815"/>
          </a:p>
          <a:p>
            <a:pPr indent="0" lvl="0" marL="0" rtl="0" algn="l">
              <a:lnSpc>
                <a:spcPct val="95000"/>
              </a:lnSpc>
              <a:spcBef>
                <a:spcPts val="1200"/>
              </a:spcBef>
              <a:spcAft>
                <a:spcPts val="0"/>
              </a:spcAft>
              <a:buSzPts val="605"/>
              <a:buNone/>
            </a:pPr>
            <a:r>
              <a:rPr lang="en" sz="815"/>
              <a:t>NFR4:  Regulatory requirement: The system shall format and transmit all SMS messages in compliance with standard national telecommunications regulations and carrier packet rules.</a:t>
            </a:r>
            <a:endParaRPr sz="815"/>
          </a:p>
          <a:p>
            <a:pPr indent="0" lvl="0" marL="0" rtl="0" algn="l">
              <a:lnSpc>
                <a:spcPct val="95000"/>
              </a:lnSpc>
              <a:spcBef>
                <a:spcPts val="1200"/>
              </a:spcBef>
              <a:spcAft>
                <a:spcPts val="0"/>
              </a:spcAft>
              <a:buSzPts val="605"/>
              <a:buNone/>
            </a:pPr>
            <a:r>
              <a:rPr lang="en" sz="815"/>
              <a:t>NFR5: Safety/security requirement: The system shall comply with privacy legislation by providing a "Complete Data Wipe" function that safely and permanently deletes all personal messages and contacts upon the user's request.</a:t>
            </a:r>
            <a:endParaRPr sz="815"/>
          </a:p>
          <a:p>
            <a:pPr indent="0" lvl="0" marL="0" rtl="0" algn="l">
              <a:lnSpc>
                <a:spcPct val="95000"/>
              </a:lnSpc>
              <a:spcBef>
                <a:spcPts val="1200"/>
              </a:spcBef>
              <a:spcAft>
                <a:spcPts val="1200"/>
              </a:spcAft>
              <a:buSzPts val="605"/>
              <a:buNone/>
            </a:pPr>
            <a:r>
              <a:t/>
            </a:r>
            <a:endParaRPr sz="815"/>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2"/>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Use Case Diagram</a:t>
            </a:r>
            <a:endParaRPr/>
          </a:p>
        </p:txBody>
      </p:sp>
      <p:pic>
        <p:nvPicPr>
          <p:cNvPr id="190" name="Google Shape;190;p22"/>
          <p:cNvPicPr preferRelativeResize="0"/>
          <p:nvPr/>
        </p:nvPicPr>
        <p:blipFill>
          <a:blip r:embed="rId3">
            <a:alphaModFix/>
          </a:blip>
          <a:stretch>
            <a:fillRect/>
          </a:stretch>
        </p:blipFill>
        <p:spPr>
          <a:xfrm>
            <a:off x="5455125" y="103525"/>
            <a:ext cx="3183650" cy="484907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3"/>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Sequence</a:t>
            </a:r>
            <a:r>
              <a:rPr lang="en"/>
              <a:t> Diagram 1 (Send Message)</a:t>
            </a:r>
            <a:endParaRPr/>
          </a:p>
        </p:txBody>
      </p:sp>
      <p:sp>
        <p:nvSpPr>
          <p:cNvPr id="196" name="Google Shape;196;p23"/>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97" name="Google Shape;197;p23"/>
          <p:cNvPicPr preferRelativeResize="0"/>
          <p:nvPr/>
        </p:nvPicPr>
        <p:blipFill>
          <a:blip r:embed="rId3">
            <a:alphaModFix/>
          </a:blip>
          <a:stretch>
            <a:fillRect/>
          </a:stretch>
        </p:blipFill>
        <p:spPr>
          <a:xfrm>
            <a:off x="1544925" y="850300"/>
            <a:ext cx="5118126" cy="42931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Sequence Diagram 2 (View Message)</a:t>
            </a:r>
            <a:endParaRPr/>
          </a:p>
        </p:txBody>
      </p:sp>
      <p:sp>
        <p:nvSpPr>
          <p:cNvPr id="203" name="Google Shape;203;p2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04" name="Google Shape;204;p24"/>
          <p:cNvPicPr preferRelativeResize="0"/>
          <p:nvPr/>
        </p:nvPicPr>
        <p:blipFill>
          <a:blip r:embed="rId3">
            <a:alphaModFix/>
          </a:blip>
          <a:stretch>
            <a:fillRect/>
          </a:stretch>
        </p:blipFill>
        <p:spPr>
          <a:xfrm>
            <a:off x="841350" y="859975"/>
            <a:ext cx="6404251" cy="4182850"/>
          </a:xfrm>
          <a:prstGeom prst="rect">
            <a:avLst/>
          </a:prstGeom>
          <a:noFill/>
          <a:ln>
            <a:noFill/>
          </a:ln>
        </p:spPr>
      </p:pic>
      <p:sp>
        <p:nvSpPr>
          <p:cNvPr id="205" name="Google Shape;205;p24"/>
          <p:cNvSpPr txBox="1"/>
          <p:nvPr/>
        </p:nvSpPr>
        <p:spPr>
          <a:xfrm>
            <a:off x="-2665114" y="715711"/>
            <a:ext cx="2566200" cy="2566200"/>
          </a:xfrm>
          <a:prstGeom prst="rect">
            <a:avLst/>
          </a:prstGeom>
          <a:noFill/>
          <a:ln>
            <a:noFill/>
          </a:ln>
        </p:spPr>
        <p:txBody>
          <a:bodyPr anchorCtr="0" anchor="ctr" bIns="78200" lIns="78200" spcFirstLastPara="1" rIns="78200" wrap="square" tIns="78200">
            <a:noAutofit/>
          </a:bodyPr>
          <a:lstStyle/>
          <a:p>
            <a:pPr indent="0" lvl="0" marL="86907" marR="86907" rtl="0" algn="l">
              <a:lnSpc>
                <a:spcPct val="115000"/>
              </a:lnSpc>
              <a:spcBef>
                <a:spcPts val="0"/>
              </a:spcBef>
              <a:spcAft>
                <a:spcPts val="0"/>
              </a:spcAft>
              <a:buNone/>
            </a:pPr>
            <a:r>
              <a:t/>
            </a:r>
            <a:endParaRPr sz="1198"/>
          </a:p>
          <a:p>
            <a:pPr indent="0" lvl="0" marL="0" rtl="0" algn="l">
              <a:lnSpc>
                <a:spcPct val="115000"/>
              </a:lnSpc>
              <a:spcBef>
                <a:spcPts val="0"/>
              </a:spcBef>
              <a:spcAft>
                <a:spcPts val="0"/>
              </a:spcAft>
              <a:buNone/>
            </a:pPr>
            <a:r>
              <a:t/>
            </a:r>
            <a:endParaRPr sz="1198"/>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5"/>
          <p:cNvSpPr txBox="1"/>
          <p:nvPr>
            <p:ph type="title"/>
          </p:nvPr>
        </p:nvSpPr>
        <p:spPr>
          <a:xfrm>
            <a:off x="1297500" y="81025"/>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Sequence Diagram 3 (Schedule Message)</a:t>
            </a:r>
            <a:endParaRPr/>
          </a:p>
          <a:p>
            <a:pPr indent="0" lvl="0" marL="0" rtl="0" algn="l">
              <a:spcBef>
                <a:spcPts val="0"/>
              </a:spcBef>
              <a:spcAft>
                <a:spcPts val="0"/>
              </a:spcAft>
              <a:buNone/>
            </a:pPr>
            <a:r>
              <a:t/>
            </a:r>
            <a:endParaRPr/>
          </a:p>
        </p:txBody>
      </p:sp>
      <p:pic>
        <p:nvPicPr>
          <p:cNvPr id="211" name="Google Shape;211;p25"/>
          <p:cNvPicPr preferRelativeResize="0"/>
          <p:nvPr/>
        </p:nvPicPr>
        <p:blipFill>
          <a:blip r:embed="rId3">
            <a:alphaModFix/>
          </a:blip>
          <a:stretch>
            <a:fillRect/>
          </a:stretch>
        </p:blipFill>
        <p:spPr>
          <a:xfrm>
            <a:off x="1667925" y="536350"/>
            <a:ext cx="5128099" cy="36458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pic>
        <p:nvPicPr>
          <p:cNvPr id="216" name="Google Shape;216;p26"/>
          <p:cNvPicPr preferRelativeResize="0"/>
          <p:nvPr/>
        </p:nvPicPr>
        <p:blipFill>
          <a:blip r:embed="rId3">
            <a:alphaModFix/>
          </a:blip>
          <a:stretch>
            <a:fillRect/>
          </a:stretch>
        </p:blipFill>
        <p:spPr>
          <a:xfrm>
            <a:off x="2086049" y="624975"/>
            <a:ext cx="4513750" cy="3381175"/>
          </a:xfrm>
          <a:prstGeom prst="rect">
            <a:avLst/>
          </a:prstGeom>
          <a:noFill/>
          <a:ln>
            <a:noFill/>
          </a:ln>
        </p:spPr>
      </p:pic>
      <p:sp>
        <p:nvSpPr>
          <p:cNvPr id="217" name="Google Shape;217;p26"/>
          <p:cNvSpPr txBox="1"/>
          <p:nvPr>
            <p:ph type="title"/>
          </p:nvPr>
        </p:nvSpPr>
        <p:spPr>
          <a:xfrm>
            <a:off x="1766521" y="43502"/>
            <a:ext cx="51528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Sequence Diagram 4 (Auto Reply)</a:t>
            </a:r>
            <a:endParaRPr/>
          </a:p>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Class Diagram</a:t>
            </a:r>
            <a:endParaRPr/>
          </a:p>
        </p:txBody>
      </p:sp>
      <p:sp>
        <p:nvSpPr>
          <p:cNvPr id="223" name="Google Shape;223;p27"/>
          <p:cNvSpPr txBox="1"/>
          <p:nvPr>
            <p:ph idx="1" type="body"/>
          </p:nvPr>
        </p:nvSpPr>
        <p:spPr>
          <a:xfrm>
            <a:off x="652575" y="1487925"/>
            <a:ext cx="2914500" cy="3042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24" name="Google Shape;224;p27"/>
          <p:cNvPicPr preferRelativeResize="0"/>
          <p:nvPr/>
        </p:nvPicPr>
        <p:blipFill>
          <a:blip r:embed="rId3">
            <a:alphaModFix/>
          </a:blip>
          <a:stretch>
            <a:fillRect/>
          </a:stretch>
        </p:blipFill>
        <p:spPr>
          <a:xfrm>
            <a:off x="4140275" y="286500"/>
            <a:ext cx="4747875" cy="467690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Architectural Diagram</a:t>
            </a:r>
            <a:endParaRPr/>
          </a:p>
        </p:txBody>
      </p:sp>
      <p:sp>
        <p:nvSpPr>
          <p:cNvPr id="230" name="Google Shape;230;p28"/>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31" name="Google Shape;231;p28"/>
          <p:cNvPicPr preferRelativeResize="0"/>
          <p:nvPr/>
        </p:nvPicPr>
        <p:blipFill>
          <a:blip r:embed="rId3">
            <a:alphaModFix/>
          </a:blip>
          <a:stretch>
            <a:fillRect/>
          </a:stretch>
        </p:blipFill>
        <p:spPr>
          <a:xfrm>
            <a:off x="1337300" y="1307850"/>
            <a:ext cx="6616800" cy="35722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Project Timeline</a:t>
            </a:r>
            <a:endParaRPr/>
          </a:p>
        </p:txBody>
      </p:sp>
      <p:sp>
        <p:nvSpPr>
          <p:cNvPr id="237" name="Google Shape;237;p29"/>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6 months to develop the software </a:t>
            </a:r>
            <a:endParaRPr/>
          </a:p>
          <a:p>
            <a:pPr indent="-311150" lvl="0" marL="457200" rtl="0" algn="l">
              <a:spcBef>
                <a:spcPts val="0"/>
              </a:spcBef>
              <a:spcAft>
                <a:spcPts val="0"/>
              </a:spcAft>
              <a:buSzPts val="1300"/>
              <a:buChar char="●"/>
            </a:pPr>
            <a:r>
              <a:rPr lang="en"/>
              <a:t>1st Phase - Planning stage to set the requirements and the development process (3-4 weeks)</a:t>
            </a:r>
            <a:endParaRPr/>
          </a:p>
          <a:p>
            <a:pPr indent="-311150" lvl="0" marL="457200" rtl="0" algn="l">
              <a:spcBef>
                <a:spcPts val="0"/>
              </a:spcBef>
              <a:spcAft>
                <a:spcPts val="0"/>
              </a:spcAft>
              <a:buSzPts val="1300"/>
              <a:buChar char="●"/>
            </a:pPr>
            <a:r>
              <a:rPr lang="en"/>
              <a:t>2nd Phase - The Design phase which is the structural part and the </a:t>
            </a:r>
            <a:r>
              <a:rPr lang="en"/>
              <a:t>framework which is also backend. (6-10 weeks)</a:t>
            </a:r>
            <a:endParaRPr/>
          </a:p>
          <a:p>
            <a:pPr indent="-311150" lvl="0" marL="457200" rtl="0" algn="l">
              <a:spcBef>
                <a:spcPts val="0"/>
              </a:spcBef>
              <a:spcAft>
                <a:spcPts val="0"/>
              </a:spcAft>
              <a:buSzPts val="1300"/>
              <a:buChar char="●"/>
            </a:pPr>
            <a:r>
              <a:rPr lang="en"/>
              <a:t>3rd Phase - The UI, the local stuff for the user and the functionalities which is the front end part. ( 6-8 weeks)</a:t>
            </a:r>
            <a:endParaRPr/>
          </a:p>
          <a:p>
            <a:pPr indent="-311150" lvl="0" marL="457200" rtl="0" algn="l">
              <a:spcBef>
                <a:spcPts val="0"/>
              </a:spcBef>
              <a:spcAft>
                <a:spcPts val="0"/>
              </a:spcAft>
              <a:buSzPts val="1300"/>
              <a:buChar char="●"/>
            </a:pPr>
            <a:r>
              <a:rPr lang="en"/>
              <a:t>4th phase - The testing stage and to fix any arising issues or change the requirements to fix and launch the software. (3-4 weeks)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Comparison with Similar Designs</a:t>
            </a:r>
            <a:endParaRPr/>
          </a:p>
        </p:txBody>
      </p:sp>
      <p:sp>
        <p:nvSpPr>
          <p:cNvPr id="243" name="Google Shape;243;p30"/>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11150" lvl="0" marL="457200" rtl="0" algn="l">
              <a:spcBef>
                <a:spcPts val="1200"/>
              </a:spcBef>
              <a:spcAft>
                <a:spcPts val="0"/>
              </a:spcAft>
              <a:buClr>
                <a:schemeClr val="lt1"/>
              </a:buClr>
              <a:buSzPts val="1300"/>
              <a:buFont typeface="Arial"/>
              <a:buChar char="●"/>
            </a:pPr>
            <a:r>
              <a:rPr b="1" lang="en">
                <a:latin typeface="Arial"/>
                <a:ea typeface="Arial"/>
                <a:cs typeface="Arial"/>
                <a:sym typeface="Arial"/>
              </a:rPr>
              <a:t>Core Value:</a:t>
            </a:r>
            <a:r>
              <a:rPr lang="en">
                <a:latin typeface="Arial"/>
                <a:ea typeface="Arial"/>
                <a:cs typeface="Arial"/>
                <a:sym typeface="Arial"/>
              </a:rPr>
              <a:t> Focuses on individual-level automation, filling feature gaps left by default messaging apps.</a:t>
            </a:r>
            <a:endParaRPr>
              <a:latin typeface="Arial"/>
              <a:ea typeface="Arial"/>
              <a:cs typeface="Arial"/>
              <a:sym typeface="Arial"/>
            </a:endParaRPr>
          </a:p>
          <a:p>
            <a:pPr indent="-311150" lvl="0" marL="457200" rtl="0" algn="l">
              <a:spcBef>
                <a:spcPts val="0"/>
              </a:spcBef>
              <a:spcAft>
                <a:spcPts val="0"/>
              </a:spcAft>
              <a:buClr>
                <a:schemeClr val="lt1"/>
              </a:buClr>
              <a:buSzPts val="1300"/>
              <a:buFont typeface="Arial"/>
              <a:buChar char="●"/>
            </a:pPr>
            <a:r>
              <a:rPr b="1" lang="en">
                <a:latin typeface="Arial"/>
                <a:ea typeface="Arial"/>
                <a:cs typeface="Arial"/>
                <a:sym typeface="Arial"/>
              </a:rPr>
              <a:t>Scheduled Messaging (Cross-Platform):</a:t>
            </a:r>
            <a:r>
              <a:rPr lang="en">
                <a:latin typeface="Arial"/>
                <a:ea typeface="Arial"/>
                <a:cs typeface="Arial"/>
                <a:sym typeface="Arial"/>
              </a:rPr>
              <a:t> Utilizes a Client-Server architecture to execute countdowns on the server.</a:t>
            </a:r>
            <a:endParaRPr>
              <a:latin typeface="Arial"/>
              <a:ea typeface="Arial"/>
              <a:cs typeface="Arial"/>
              <a:sym typeface="Arial"/>
            </a:endParaRPr>
          </a:p>
          <a:p>
            <a:pPr indent="-311150" lvl="1" marL="914400" rtl="0" algn="l">
              <a:spcBef>
                <a:spcPts val="0"/>
              </a:spcBef>
              <a:spcAft>
                <a:spcPts val="0"/>
              </a:spcAft>
              <a:buClr>
                <a:schemeClr val="lt1"/>
              </a:buClr>
              <a:buSzPts val="1300"/>
              <a:buFont typeface="Arial"/>
              <a:buChar char="○"/>
            </a:pPr>
            <a:r>
              <a:rPr lang="en" sz="1300">
                <a:latin typeface="Arial"/>
                <a:ea typeface="Arial"/>
                <a:cs typeface="Arial"/>
                <a:sym typeface="Arial"/>
              </a:rPr>
              <a:t>Ensures reliable delivery regardless of the recipient's OS, bypassing closed-ecosystem barriers (like iMessage).</a:t>
            </a:r>
            <a:endParaRPr sz="1300">
              <a:latin typeface="Arial"/>
              <a:ea typeface="Arial"/>
              <a:cs typeface="Arial"/>
              <a:sym typeface="Arial"/>
            </a:endParaRPr>
          </a:p>
          <a:p>
            <a:pPr indent="-311150" lvl="0" marL="457200" rtl="0" algn="l">
              <a:spcBef>
                <a:spcPts val="0"/>
              </a:spcBef>
              <a:spcAft>
                <a:spcPts val="0"/>
              </a:spcAft>
              <a:buClr>
                <a:schemeClr val="lt1"/>
              </a:buClr>
              <a:buSzPts val="1300"/>
              <a:buFont typeface="Arial"/>
              <a:buChar char="●"/>
            </a:pPr>
            <a:r>
              <a:rPr b="1" lang="en">
                <a:latin typeface="Arial"/>
                <a:ea typeface="Arial"/>
                <a:cs typeface="Arial"/>
                <a:sym typeface="Arial"/>
              </a:rPr>
              <a:t>Auto-Reply for Peer-to-Peer (P2P):</a:t>
            </a:r>
            <a:r>
              <a:rPr lang="en">
                <a:latin typeface="Arial"/>
                <a:ea typeface="Arial"/>
                <a:cs typeface="Arial"/>
                <a:sym typeface="Arial"/>
              </a:rPr>
              <a:t> Empowers regular users with flexible, customizable automated responses.</a:t>
            </a:r>
            <a:endParaRPr>
              <a:latin typeface="Arial"/>
              <a:ea typeface="Arial"/>
              <a:cs typeface="Arial"/>
              <a:sym typeface="Arial"/>
            </a:endParaRPr>
          </a:p>
          <a:p>
            <a:pPr indent="-311150" lvl="1" marL="914400" rtl="0" algn="l">
              <a:spcBef>
                <a:spcPts val="0"/>
              </a:spcBef>
              <a:spcAft>
                <a:spcPts val="0"/>
              </a:spcAft>
              <a:buClr>
                <a:schemeClr val="lt1"/>
              </a:buClr>
              <a:buSzPts val="1300"/>
              <a:buFont typeface="Arial"/>
              <a:buChar char="○"/>
            </a:pPr>
            <a:r>
              <a:rPr lang="en" sz="1300">
                <a:latin typeface="Arial"/>
                <a:ea typeface="Arial"/>
                <a:cs typeface="Arial"/>
                <a:sym typeface="Arial"/>
              </a:rPr>
              <a:t>Unlike RCS and iMessage, which restrict robust auto-reply features primarily to Business accounts.</a:t>
            </a:r>
            <a:endParaRPr sz="1300">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1"/>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Test Plan Demonstration</a:t>
            </a:r>
            <a:endParaRPr/>
          </a:p>
        </p:txBody>
      </p:sp>
      <p:sp>
        <p:nvSpPr>
          <p:cNvPr id="249" name="Google Shape;249;p31"/>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50" name="Google Shape;250;p31"/>
          <p:cNvPicPr preferRelativeResize="0"/>
          <p:nvPr/>
        </p:nvPicPr>
        <p:blipFill>
          <a:blip r:embed="rId3">
            <a:alphaModFix/>
          </a:blip>
          <a:stretch>
            <a:fillRect/>
          </a:stretch>
        </p:blipFill>
        <p:spPr>
          <a:xfrm>
            <a:off x="437624" y="1307850"/>
            <a:ext cx="3480700" cy="3742800"/>
          </a:xfrm>
          <a:prstGeom prst="rect">
            <a:avLst/>
          </a:prstGeom>
          <a:noFill/>
          <a:ln>
            <a:noFill/>
          </a:ln>
        </p:spPr>
      </p:pic>
      <p:pic>
        <p:nvPicPr>
          <p:cNvPr id="251" name="Google Shape;251;p31"/>
          <p:cNvPicPr preferRelativeResize="0"/>
          <p:nvPr/>
        </p:nvPicPr>
        <p:blipFill>
          <a:blip r:embed="rId4">
            <a:alphaModFix/>
          </a:blip>
          <a:stretch>
            <a:fillRect/>
          </a:stretch>
        </p:blipFill>
        <p:spPr>
          <a:xfrm>
            <a:off x="4103225" y="1598263"/>
            <a:ext cx="4750174" cy="31619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2"/>
          <p:cNvSpPr txBox="1"/>
          <p:nvPr>
            <p:ph type="title"/>
          </p:nvPr>
        </p:nvSpPr>
        <p:spPr>
          <a:xfrm>
            <a:off x="1209900" y="40170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Prototype</a:t>
            </a:r>
            <a:endParaRPr/>
          </a:p>
        </p:txBody>
      </p:sp>
      <p:sp>
        <p:nvSpPr>
          <p:cNvPr id="257" name="Google Shape;257;p32"/>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58" name="Google Shape;258;p32"/>
          <p:cNvPicPr preferRelativeResize="0"/>
          <p:nvPr/>
        </p:nvPicPr>
        <p:blipFill>
          <a:blip r:embed="rId3">
            <a:alphaModFix/>
          </a:blip>
          <a:stretch>
            <a:fillRect/>
          </a:stretch>
        </p:blipFill>
        <p:spPr>
          <a:xfrm>
            <a:off x="1265850" y="967613"/>
            <a:ext cx="6926998" cy="411107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3"/>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Challenges, Lesson Learned, and Conclusion</a:t>
            </a:r>
            <a:endParaRPr/>
          </a:p>
        </p:txBody>
      </p:sp>
      <p:sp>
        <p:nvSpPr>
          <p:cNvPr id="264" name="Google Shape;264;p33"/>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Challenges:</a:t>
            </a:r>
            <a:endParaRPr/>
          </a:p>
          <a:p>
            <a:pPr indent="0" lvl="0" marL="0" rtl="0" algn="l">
              <a:spcBef>
                <a:spcPts val="1200"/>
              </a:spcBef>
              <a:spcAft>
                <a:spcPts val="0"/>
              </a:spcAft>
              <a:buNone/>
            </a:pPr>
            <a:r>
              <a:rPr lang="en"/>
              <a:t>Although there were some difficulties in cost estimation sourcing for the most part the project was manageable.</a:t>
            </a:r>
            <a:endParaRPr/>
          </a:p>
          <a:p>
            <a:pPr indent="0" lvl="0" marL="0" rtl="0" algn="l">
              <a:spcBef>
                <a:spcPts val="1200"/>
              </a:spcBef>
              <a:spcAft>
                <a:spcPts val="0"/>
              </a:spcAft>
              <a:buNone/>
            </a:pPr>
            <a:r>
              <a:rPr lang="en"/>
              <a:t>Lesson Learned:</a:t>
            </a:r>
            <a:endParaRPr/>
          </a:p>
          <a:p>
            <a:pPr indent="0" lvl="0" marL="0" rtl="0" algn="l">
              <a:spcBef>
                <a:spcPts val="1200"/>
              </a:spcBef>
              <a:spcAft>
                <a:spcPts val="0"/>
              </a:spcAft>
              <a:buNone/>
            </a:pPr>
            <a:r>
              <a:rPr lang="en"/>
              <a:t>Through the process of completing this project we learned about software planning design and testing, critical skills for any software engineer.</a:t>
            </a:r>
            <a:endParaRPr/>
          </a:p>
          <a:p>
            <a:pPr indent="0" lvl="0" marL="0" rtl="0" algn="l">
              <a:spcBef>
                <a:spcPts val="1200"/>
              </a:spcBef>
              <a:spcAft>
                <a:spcPts val="0"/>
              </a:spcAft>
              <a:buNone/>
            </a:pPr>
            <a:r>
              <a:rPr lang="en"/>
              <a:t>Conclusion:</a:t>
            </a:r>
            <a:endParaRPr/>
          </a:p>
          <a:p>
            <a:pPr indent="0" lvl="0" marL="0" rtl="0" algn="l">
              <a:spcBef>
                <a:spcPts val="1200"/>
              </a:spcBef>
              <a:spcAft>
                <a:spcPts val="0"/>
              </a:spcAft>
              <a:buNone/>
            </a:pPr>
            <a:r>
              <a:rPr lang="en"/>
              <a:t>This final phase refined our design plans, constructed scheduling and cost estimates and gave us guidance as to what we really have to offer when compared with market rivals.</a:t>
            </a:r>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